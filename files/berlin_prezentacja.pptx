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Udział sektorów (%)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C9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70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65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0501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401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Usługi</c:v>
                  </c:pt>
                  <c:pt idx="1">
                    <c:v>IT/Techno</c:v>
                  </c:pt>
                  <c:pt idx="2">
                    <c:v>Turystyka</c:v>
                  </c:pt>
                  <c:pt idx="3">
                    <c:v>Przemysł</c:v>
                  </c:pt>
                  <c:pt idx="4">
                    <c:v>Media</c:v>
                  </c:pt>
                  <c:pt idx="5">
                    <c:v>Nauka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22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ED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097280"/>
            <a:ext cx="5943600" cy="5943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-822960"/>
            <a:ext cx="5303520" cy="5303520"/>
          </a:xfrm>
          <a:prstGeom prst="ellipse">
            <a:avLst/>
          </a:prstGeom>
          <a:solidFill>
            <a:srgbClr val="142035"/>
          </a:solidFill>
          <a:ln w="12700">
            <a:solidFill>
              <a:srgbClr val="14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0"/>
            <a:ext cx="91440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1280160"/>
            <a:ext cx="36576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5744" y="731520"/>
            <a:ext cx="73152" cy="594360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743200"/>
            <a:ext cx="548640" cy="1188720"/>
          </a:xfrm>
          <a:prstGeom prst="rect">
            <a:avLst/>
          </a:prstGeom>
          <a:solidFill>
            <a:srgbClr val="1E2F4A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377440"/>
            <a:ext cx="457200" cy="155448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926080"/>
            <a:ext cx="640080" cy="1005840"/>
          </a:xfrm>
          <a:prstGeom prst="rect">
            <a:avLst/>
          </a:prstGeom>
          <a:solidFill>
            <a:srgbClr val="1E2F4A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651760"/>
            <a:ext cx="457200" cy="128016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Serce Niemiec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• Kultura • Architektura • Życie miejskie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podróżnicza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 w liczbach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 mln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mieszkańców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891 km²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889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powierzchnia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🏘️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dzielnic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6948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694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założenia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jest największym miastem Niemiec i siedzibą rządu federalnego.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Rzeka Sprewa i kanały dzielą miasto na malownicze wyspy i dzielnice.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 Berlina – Początki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wzmianki o osadzie Cölln (późniejszy Berlin) nad Sprewą.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139696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385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Hohenzollernowie obejmują władzę – Berlin staje się stolicą Marchii Brandenburskiej.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843784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42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Koronacja Fryderyka I – Berlin stolicą Królestwa Prus.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392424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3547872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34670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Zjednoczenie Niemiec – Berlin stolicą cesarstwa pod Wilhelmem I.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4251960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I wojny, abdykacja kaisera, proklamowanie Republiki Weimarskiej.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 Wojna Światowa i podział miasta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1933–1939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 Rzesza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– centrum nazistowskiego reżimu. Prześladowania, Olympic Games 1936, marsz ku wojnie.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0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Upadek i zniszczenie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350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zabudowy zniszczone. Bitwa o Berlin – 2 maja 1945 Armia Czerwona wkracza do miasta.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352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1945–1949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Strefy okupacyjne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2644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Miasto podzielone między USA, Wielką Brytanię, Francję i ZSRR. Blokada radziecka i słynny most powietrzny.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9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Dwa państwa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Powstają dwie Niemcy: RFN i NRD. Berlin Zachodni otoczony komunistycznym wschodem.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7315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Mur Berliński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 – 1989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1783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Wybudowany w nocy z 12 na 13 sierpnia 1961 r. przez NRD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167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155 km długości – otaczał całkowicie Berlin Zachodni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5511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  Ponad 140 osób zginęło próbując przekroczyć mur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9352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🕊️  9 listopada 1989 – mur upadł, Berlin Zachodni i Wschodni znów razem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Zjednoczenie i odrodzenie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października 1990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Oficjalny dzień zjednoczenia Niemiec. Berlin ponownie ogłoszono stolicą zjednoczonych Niemiec.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Przebudowa Berlina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Miliardowe inwestycje w infrastrukturę, nowe dzielnice biurowe na Potsdamer Platz i remont Reichstagu.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Kamienie milowe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Bundestag przenosi się z Bonn do Berlina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514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Uroczyste otwarcie odbudowanego Reichstagu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154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gospodarzem Mistrzostw Świata w piłce nożnej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3794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Dynamiczny rozwój startupów i sceny technologicznej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Najważniejsze zabytki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Brama Brandenburska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Berlina i zjednoczenia Niemiec. Neokl. budowla z 1791 r., wisząca Kwadrygą.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Reichstag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435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Siedziba Bundestagu ze szklaną kopułą proj. Normana Fostera. Panorama miasta 360°.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 Wieża Telewizyjna (Fernsehturm)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734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 m – dominanta Berlina i punkt widokowy przy Alexanderplatz.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58568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🏰  Zamek Charlottenburg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734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Największy pałac Berlina, barokowa rezydencja pruskich królów z XVII 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48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⛪  Katedra Berlińska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032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Majestatyczna katedra ewangelicka nad Sprewą, grobowiec Hohenzollernów.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57016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648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🕍  Nowa Synagoga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4032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Mauretańska perła na Oranienburger Strasse – symbol żydowskiego dziedzictwa Berlina.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Wyspa Muzeów i kultura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Wyspa Muzeów (Museumsinsel) — UNESCO od 1999 roku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Pergamonmuseum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Ołtarz Pergamoński, Brama Isztar z Babilonu, Brama Rynkowa Miletu.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Neues Museum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słynnego popiersia Nefertiti – ikony starożytnego Egiptu.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Altes Museum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Antyczna kolekcja – grecka i rzymska rzeźba, biżuteria, ceramika.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Bodemuseum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Rzeźba wczesnochrześcijańska, sztuka bizantyjska i numizmatyka.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 Nationalgalerie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Malarstwo i rzeźba XIX w. – romantyzm, realizm, impresjonizm.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posiada ponad 170 muzeów – jedno z najgęstszych zagęszczeń na świecie!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Charakterystyczne dzielnice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9601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Historyczne centrum – muzea, Brama Brandenburska, Reichstag i rząd.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109728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9601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Kreuzberg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14904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Artystyczny i wielokulturowy – kebab, graffiti, klimatyczne kawiarnie.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10972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9601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Prenzlauer Berg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14904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Modna dzielnica dla rodzin i artystów – bruk, ryneczek Mauerpark.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10972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7889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Charlottenburg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33192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Elegancja – Kurfürstendamm, luksusowe sklepy, pałac królewski.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788920"/>
            <a:ext cx="109728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7889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Neukölln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520440" y="33192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Hipsterski underground – galerie sztuki, bary, różnorodność kulturowa.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109728" cy="155448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27889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9B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Friedrichshain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46520" y="33192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Side Gallery, scena muzyczna, Berghain i nocne życie.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0030">
              <a:alpha val="70000"/>
            </a:srgbClr>
          </a:solidFill>
          <a:ln w="12700">
            <a:solidFill>
              <a:srgbClr val="1A0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01A30">
              <a:alpha val="70000"/>
            </a:srgbClr>
          </a:solidFill>
          <a:ln w="12700">
            <a:solidFill>
              <a:srgbClr val="00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 Muzyka i nocne życie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to światowa stolica techno i elektronicznej sceny muzycznej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🔊  Berghain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Legendarny klub techno w dawnej elektrowni. Jeden z najsłynniejszych klubów świata – słynna selekcja na wejściu.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🎸  East Side Gallery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km Muru Berlińskiego pokrytego muralami artystów z całego świata – muzeum na wolnym powietrzu.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🎹  Berliner Philharmoniker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 najlepszych orkiestr filharmonicznych na świecie, siedziba w imponującym budynku Hansa Scharouna.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🎶  Mauerpark &amp; Karaoke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Niedzielny targ staroci z uwielbionym karaoke na świeżym powietrzu – berlin's open-air living room.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🍽️  Kuchnia i smaki Berlina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887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25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Döner Kebab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to ojczyzna europejskiego dönera. Turcy w latach 70-tych stworzyli tu tę słynną kanapkę.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1887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1325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Currywurst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Narodowy fast food Berlina – gotowany kiełbas z ketchupem curry. Muzeum Currywurst na Unter den Linden!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325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Pieczywo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Ponad 400 gatunków chleba. Berlińskie bułki Kaiser i chleb żytni to kulinarne dziedzictwo UNESCO.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0175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🍺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4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Piwo berlińskie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Berliner Weisse – kwaśne piwo pszeniczne z syropem malinowym lub woodruff. Napój rodem z XVIII 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30175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Brez'n &amp; targi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Weekendowe targi jak Mauerpark czy Markthalle Neun – street food z całego świata.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30175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 culture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słynie z kawiarni third-wave. Dzielnice Mitte i Prenzlauer Berg to Mekka kawosza.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Parki i zieleń Berlina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– jedna z najbardziej zazielenionych metropolii Europy. Ponad 1/3 powierzchni to parki, lasy i wody.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9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Tiergarten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609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ha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Centralny park Berlina – dawne łowisko królewskie. Serce miasta z Kolumną Zwycięstwa.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9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Grunewald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4597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ha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Ogromny las w zachodniej części miasta. Idealne tereny do spacerów, rowerów i pływania.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Müggelsee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jezoro 7,4 km²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berlińskie jezioro – kąpielisko i żeglarstwo w otoczeniu lasów.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05656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Volkspark Friedrichshain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ha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Najstarszy park publiczny (1848). Bajkowa fontanna i ślady po II wojnie.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💼  Gospodarka i innowacje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115568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1155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 – startup hub Europy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1645920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69164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🦄  Ponad 40 jednorożców (firm o wycenie &gt;1 mld $)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2221992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226771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Siedziba Zalando, Delivery Hero i HelloFresh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2798064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843784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4 uniwersytety w top-200 na świecie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77840" y="3374136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419856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12 mln turystów rocznie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577840" y="3950208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3995928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3. najbardziej kosmopolityczne miasto Europy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🚇  Jak poruszać się po Berlinie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200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U-Bahn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linii metra – szybko dociera do każdej dzielnicy. Kursuje całą dobę w weekendy.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320040" cy="1143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S-Bahn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3792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Szybka kolej miejska – łączy dzielnice i przedmieścia. Linia okrężna Ring przez centrum.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58568"/>
            <a:ext cx="320040" cy="114300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5786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B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Tramwaj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2715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Głównie we wschodniej części miasta – klimatyczny i efektywny środek transportu.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58568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58568"/>
            <a:ext cx="32004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5786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93792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93792" y="2715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km ścieżek rowerowych. NextBike i Tier do wypożyczenia. Miasto bardzo przyjazne rowerowi.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57016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57016"/>
            <a:ext cx="32004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8770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3630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Linie 100 i 200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" y="40142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Turystyczne autobusy przez centrum – BVG oferuje wycieczkę za cenę biletu normalnego.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57016"/>
            <a:ext cx="3200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8770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✈️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93792" y="3630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Lotnisko BER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93792" y="40142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Brandenburg Airport otwarty 2020 – 1 terminal, dobre połączenia z centrum (S-Bahn 45 min).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411480"/>
            <a:ext cx="3200400" cy="3200400"/>
          </a:xfrm>
          <a:prstGeom prst="ellipse">
            <a:avLst/>
          </a:prstGeom>
          <a:solidFill>
            <a:srgbClr val="C9A84C">
              <a:alpha val="15000"/>
            </a:srgbClr>
          </a:solidFill>
          <a:ln w="381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 czeka!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286000" y="1417320"/>
            <a:ext cx="457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Miasto wolności, sztuki i historii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 Ponad 170 muzeów i niezliczone galerie sztuki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 Pulsująca scena muzyczna – techno, opera, jazz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163824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 Zielone parki i jeziora w sercu metropolii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602736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 Kosmopolityczna atmosfera i otwartość na świat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4041648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 Doskonałe połączenia lotnicze z całą Europą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4617720"/>
            <a:ext cx="457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jest zawsze na etapie stawania sie, nigdy nie jest skonczony.  — Karl Scheffler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>
            <a:spLocks noGrp="1"/>
          </p:cNvSpPr>
          <p:nvPr/>
        </p:nvSpPr>
        <p:spPr>
          <a:xfrm>
            <a:off x="0" y="0"/>
            <a:ext cx="164160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" name="circle1"/>
          <p:cNvSpPr>
            <a:spLocks noGrp="1"/>
          </p:cNvSpPr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noFill/>
          <a:ln w="27000">
            <a:solidFill>
              <a:srgbClr val="C9A84C">
                <a:alpha val="35000"/>
              </a:srgbClr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4" name="circle2"/>
          <p:cNvSpPr>
            <a:spLocks noGrp="1"/>
          </p:cNvSpPr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1B2A4A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457200" y="685800"/>
            <a:ext cx="8229600" cy="1371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pl-PL" sz="5400" b="1" dirty="0">
                <a:solidFill>
                  <a:srgbClr val="FFFFFF"/>
                </a:solidFill>
                <a:latin typeface="Georgia"/>
              </a:rPr>
              <a:t>Dziękujemy za uwagę!</a:t>
            </a:r>
          </a:p>
        </p:txBody>
      </p:sp>
      <p:sp>
        <p:nvSpPr>
          <p:cNvPr id="6" name="line"/>
          <p:cNvSpPr>
            <a:spLocks noGrp="1"/>
          </p:cNvSpPr>
          <p:nvPr/>
        </p:nvSpPr>
        <p:spPr>
          <a:xfrm>
            <a:off x="2286000" y="2133600"/>
            <a:ext cx="4572000" cy="5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7" name="subtitle"/>
          <p:cNvSpPr>
            <a:spLocks noGrp="1"/>
          </p:cNvSpPr>
          <p:nvPr/>
        </p:nvSpPr>
        <p:spPr>
          <a:xfrm>
            <a:off x="457200" y="2230200"/>
            <a:ext cx="8229600" cy="5715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pl-PL" sz="2200" i="1" dirty="0">
                <a:solidFill>
                  <a:srgbClr val="E8C96D"/>
                </a:solidFill>
                <a:latin typeface="Calibri"/>
              </a:rPr>
              <a:t>Berlin – Serce Niemiec</a:t>
            </a:r>
          </a:p>
        </p:txBody>
      </p:sp>
      <p:sp>
        <p:nvSpPr>
          <p:cNvPr id="8" name="presenters_label"/>
          <p:cNvSpPr>
            <a:spLocks noGrp="1"/>
          </p:cNvSpPr>
          <p:nvPr/>
        </p:nvSpPr>
        <p:spPr>
          <a:xfrm>
            <a:off x="457200" y="3047400"/>
            <a:ext cx="8229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pl-PL" sz="1400" dirty="0">
                <a:solidFill>
                  <a:srgbClr val="8A8A9A"/>
                </a:solidFill>
                <a:latin typeface="Calibri"/>
              </a:rPr>
              <a:t>Prezentacja przygotowana przez:</a:t>
            </a:r>
          </a:p>
        </p:txBody>
      </p:sp>
      <p:sp>
        <p:nvSpPr>
          <p:cNvPr id="9" name="name1_bg"/>
          <p:cNvSpPr>
            <a:spLocks noGrp="1"/>
          </p:cNvSpPr>
          <p:nvPr/>
        </p:nvSpPr>
        <p:spPr>
          <a:xfrm>
            <a:off x="1371600" y="3467700"/>
            <a:ext cx="2971800" cy="685800"/>
          </a:xfrm>
          <a:prstGeom prst="rect">
            <a:avLst/>
          </a:prstGeom>
          <a:solidFill>
            <a:srgbClr val="1B2A4A"/>
          </a:solidFill>
          <a:ln w="9000">
            <a:solidFill>
              <a:srgbClr val="C9A84C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" name="name1"/>
          <p:cNvSpPr>
            <a:spLocks noGrp="1"/>
          </p:cNvSpPr>
          <p:nvPr/>
        </p:nvSpPr>
        <p:spPr>
          <a:xfrm>
            <a:off x="1371600" y="3467700"/>
            <a:ext cx="2971800" cy="6858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pl-PL" sz="1800" b="1" dirty="0">
                <a:solidFill>
                  <a:srgbClr val="FFFFFF"/>
                </a:solidFill>
                <a:latin typeface="Georgia"/>
              </a:rPr>
              <a:t>Wiktor Łukasiewicz</a:t>
            </a:r>
          </a:p>
        </p:txBody>
      </p:sp>
      <p:sp>
        <p:nvSpPr>
          <p:cNvPr id="11" name="name2_bg"/>
          <p:cNvSpPr>
            <a:spLocks noGrp="1"/>
          </p:cNvSpPr>
          <p:nvPr/>
        </p:nvSpPr>
        <p:spPr>
          <a:xfrm>
            <a:off x="4800600" y="3467700"/>
            <a:ext cx="2971800" cy="685800"/>
          </a:xfrm>
          <a:prstGeom prst="rect">
            <a:avLst/>
          </a:prstGeom>
          <a:solidFill>
            <a:srgbClr val="1B2A4A"/>
          </a:solidFill>
          <a:ln w="9000">
            <a:solidFill>
              <a:srgbClr val="C9A84C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2" name="name2"/>
          <p:cNvSpPr>
            <a:spLocks noGrp="1"/>
          </p:cNvSpPr>
          <p:nvPr/>
        </p:nvSpPr>
        <p:spPr>
          <a:xfrm>
            <a:off x="4800600" y="3467700"/>
            <a:ext cx="2971800" cy="6858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pl-PL" sz="1800" b="1" dirty="0">
                <a:solidFill>
                  <a:srgbClr val="FFFFFF"/>
                </a:solidFill>
                <a:latin typeface="Georgia"/>
              </a:rPr>
              <a:t>Szymon Kubiński</a:t>
            </a:r>
          </a:p>
        </p:txBody>
      </p:sp>
      <p:sp>
        <p:nvSpPr>
          <p:cNvPr id="13" name="quote"/>
          <p:cNvSpPr>
            <a:spLocks noGrp="1"/>
          </p:cNvSpPr>
          <p:nvPr/>
        </p:nvSpPr>
        <p:spPr>
          <a:xfrm>
            <a:off x="457200" y="4571550"/>
            <a:ext cx="8229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pl-PL" sz="1000" i="1" dirty="0">
                <a:solidFill>
                  <a:srgbClr val="555566"/>
                </a:solidFill>
                <a:latin typeface="Calibri"/>
              </a:rPr>
              <a:t>„Berlin jest zawsze na etapie stawania się, nigdy nie jest skończony.” — Karl Scheffler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Berlin – Serce Niemiec</dc:title>
  <dc:subject>PptxGenJS Presentation</dc:subject>
  <dc:creator>PptxGenJS</dc:creator>
  <cp:lastModifiedBy>PptxGenJS</cp:lastModifiedBy>
  <cp:revision>1</cp:revision>
  <dcterms:created xsi:type="dcterms:W3CDTF">2026-04-22T19:16:29Z</dcterms:created>
  <dcterms:modified xsi:type="dcterms:W3CDTF">2026-04-22T19:16:29Z</dcterms:modified>
</cp:coreProperties>
</file>